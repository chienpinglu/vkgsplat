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e1372961ba4355" /><Relationship Type="http://schemas.openxmlformats.org/officeDocument/2006/relationships/extended-properties" Target="/docProps/app.xml" Id="R0032a28c82d64ac3" /><Relationship Type="http://schemas.openxmlformats.org/officeDocument/2006/relationships/officeDocument" Target="/ppt/presentation.xml" Id="R57d5659bd6234a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669f7ecf1b429d"/>
  </p:sldMasterIdLst>
  <p:notesMasterIdLst>
    <p:notesMasterId xmlns:r="http://schemas.openxmlformats.org/officeDocument/2006/relationships" r:id="R434f814de7184a83"/>
  </p:notesMasterIdLst>
  <p:sldIdLst>
    <p:sldId xmlns:r="http://schemas.openxmlformats.org/officeDocument/2006/relationships" id="256" r:id="R768b8cc7dbef4ab2"/>
    <p:sldId xmlns:r="http://schemas.openxmlformats.org/officeDocument/2006/relationships" id="257" r:id="R1fc8002231114622"/>
    <p:sldId xmlns:r="http://schemas.openxmlformats.org/officeDocument/2006/relationships" id="258" r:id="R7cd54f63b7554ced"/>
    <p:sldId xmlns:r="http://schemas.openxmlformats.org/officeDocument/2006/relationships" id="259" r:id="R1add8abacf9a4554"/>
    <p:sldId xmlns:r="http://schemas.openxmlformats.org/officeDocument/2006/relationships" id="260" r:id="R173a50e1048e4c76"/>
    <p:sldId xmlns:r="http://schemas.openxmlformats.org/officeDocument/2006/relationships" id="261" r:id="Rc6ef3162d81145fc"/>
    <p:sldId xmlns:r="http://schemas.openxmlformats.org/officeDocument/2006/relationships" id="262" r:id="R994b918f97b4495a"/>
    <p:sldId xmlns:r="http://schemas.openxmlformats.org/officeDocument/2006/relationships" id="263" r:id="R03bb5daf733e43c3"/>
    <p:sldId xmlns:r="http://schemas.openxmlformats.org/officeDocument/2006/relationships" id="264" r:id="Rc7afeb1a6e374132"/>
    <p:sldId xmlns:r="http://schemas.openxmlformats.org/officeDocument/2006/relationships" id="265" r:id="R6dc8973b721c4195"/>
    <p:sldId xmlns:r="http://schemas.openxmlformats.org/officeDocument/2006/relationships" id="266" r:id="Rce4d9a7bab0d4e98"/>
    <p:sldId xmlns:r="http://schemas.openxmlformats.org/officeDocument/2006/relationships" id="267" r:id="R7923e9e6e0804055"/>
    <p:sldId xmlns:r="http://schemas.openxmlformats.org/officeDocument/2006/relationships" id="268" r:id="Rd8a9191fde7b4a38"/>
    <p:sldId xmlns:r="http://schemas.openxmlformats.org/officeDocument/2006/relationships" id="269" r:id="Ra24a46ea4e824938"/>
    <p:sldId xmlns:r="http://schemas.openxmlformats.org/officeDocument/2006/relationships" id="270" r:id="R900021124f724550"/>
    <p:sldId xmlns:r="http://schemas.openxmlformats.org/officeDocument/2006/relationships" id="271" r:id="Rad5f3312037144b4"/>
    <p:sldId xmlns:r="http://schemas.openxmlformats.org/officeDocument/2006/relationships" id="272" r:id="R427c086f6bba4ff8"/>
    <p:sldId xmlns:r="http://schemas.openxmlformats.org/officeDocument/2006/relationships" id="273" r:id="R06a32dec306745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69f7ecf1b429d" /><Relationship Type="http://schemas.openxmlformats.org/officeDocument/2006/relationships/theme" Target="/ppt/theme/theme1.xml" Id="R7e2d0d75be2c4b2e" /><Relationship Type="http://schemas.openxmlformats.org/officeDocument/2006/relationships/notesMaster" Target="/ppt/notesMasters/notesMaster1.xml" Id="R434f814de7184a83" /><Relationship Type="http://schemas.openxmlformats.org/officeDocument/2006/relationships/presProps" Target="/ppt/presProps.xml" Id="Ra4268c73f495429a" /><Relationship Type="http://schemas.openxmlformats.org/officeDocument/2006/relationships/viewProps" Target="/ppt/viewProps.xml" Id="R2b7ddb273adb40aa" /><Relationship Type="http://schemas.openxmlformats.org/officeDocument/2006/relationships/tableStyles" Target="/ppt/tableStyles.xml" Id="Rbd51c0a63f0e4d50" /><Relationship Type="http://schemas.openxmlformats.org/officeDocument/2006/relationships/slide" Target="/ppt/slides/slide1.xml" Id="R768b8cc7dbef4ab2" /><Relationship Type="http://schemas.openxmlformats.org/officeDocument/2006/relationships/slide" Target="/ppt/slides/slide2.xml" Id="R1fc8002231114622" /><Relationship Type="http://schemas.openxmlformats.org/officeDocument/2006/relationships/slide" Target="/ppt/slides/slide3.xml" Id="R7cd54f63b7554ced" /><Relationship Type="http://schemas.openxmlformats.org/officeDocument/2006/relationships/slide" Target="/ppt/slides/slide4.xml" Id="R1add8abacf9a4554" /><Relationship Type="http://schemas.openxmlformats.org/officeDocument/2006/relationships/slide" Target="/ppt/slides/slide5.xml" Id="R173a50e1048e4c76" /><Relationship Type="http://schemas.openxmlformats.org/officeDocument/2006/relationships/slide" Target="/ppt/slides/slide6.xml" Id="Rc6ef3162d81145fc" /><Relationship Type="http://schemas.openxmlformats.org/officeDocument/2006/relationships/slide" Target="/ppt/slides/slide7.xml" Id="R994b918f97b4495a" /><Relationship Type="http://schemas.openxmlformats.org/officeDocument/2006/relationships/slide" Target="/ppt/slides/slide8.xml" Id="R03bb5daf733e43c3" /><Relationship Type="http://schemas.openxmlformats.org/officeDocument/2006/relationships/slide" Target="/ppt/slides/slide9.xml" Id="Rc7afeb1a6e374132" /><Relationship Type="http://schemas.openxmlformats.org/officeDocument/2006/relationships/slide" Target="/ppt/slides/slide10.xml" Id="R6dc8973b721c4195" /><Relationship Type="http://schemas.openxmlformats.org/officeDocument/2006/relationships/slide" Target="/ppt/slides/slide11.xml" Id="Rce4d9a7bab0d4e98" /><Relationship Type="http://schemas.openxmlformats.org/officeDocument/2006/relationships/slide" Target="/ppt/slides/slide12.xml" Id="R7923e9e6e0804055" /><Relationship Type="http://schemas.openxmlformats.org/officeDocument/2006/relationships/slide" Target="/ppt/slides/slide13.xml" Id="Rd8a9191fde7b4a38" /><Relationship Type="http://schemas.openxmlformats.org/officeDocument/2006/relationships/slide" Target="/ppt/slides/slide14.xml" Id="Ra24a46ea4e824938" /><Relationship Type="http://schemas.openxmlformats.org/officeDocument/2006/relationships/slide" Target="/ppt/slides/slide15.xml" Id="R900021124f724550" /><Relationship Type="http://schemas.openxmlformats.org/officeDocument/2006/relationships/slide" Target="/ppt/slides/slide16.xml" Id="Rad5f3312037144b4" /><Relationship Type="http://schemas.openxmlformats.org/officeDocument/2006/relationships/slide" Target="/ppt/slides/slide17.xml" Id="R427c086f6bba4ff8" /><Relationship Type="http://schemas.openxmlformats.org/officeDocument/2006/relationships/slide" Target="/ppt/slides/slide18.xml" Id="R06a32dec306745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32a28f5a45d43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7d203a77f24368" /><Relationship Type="http://schemas.openxmlformats.org/officeDocument/2006/relationships/notesMaster" Target="/ppt/notesMasters/notesMaster1.xml" Id="Ree0db4f95fad4c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e74cc28704452b" /><Relationship Type="http://schemas.openxmlformats.org/officeDocument/2006/relationships/notesMaster" Target="/ppt/notesMasters/notesMaster1.xml" Id="R2ec1cbca0aa346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2bdf1ec1b44548" /><Relationship Type="http://schemas.openxmlformats.org/officeDocument/2006/relationships/notesMaster" Target="/ppt/notesMasters/notesMaster1.xml" Id="Rae24944482c44a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a2ff1494c042e1" /><Relationship Type="http://schemas.openxmlformats.org/officeDocument/2006/relationships/notesMaster" Target="/ppt/notesMasters/notesMaster1.xml" Id="R110e13aca19247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97e10bacd04771" /><Relationship Type="http://schemas.openxmlformats.org/officeDocument/2006/relationships/notesMaster" Target="/ppt/notesMasters/notesMaster1.xml" Id="R02765b327307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03e65e14554a79" /><Relationship Type="http://schemas.openxmlformats.org/officeDocument/2006/relationships/notesMaster" Target="/ppt/notesMasters/notesMaster1.xml" Id="R9d84f261956e44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acdbacd4dc4d3a" /><Relationship Type="http://schemas.openxmlformats.org/officeDocument/2006/relationships/notesMaster" Target="/ppt/notesMasters/notesMaster1.xml" Id="R1bf2ef7a63524e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59c80b86a94da6" /><Relationship Type="http://schemas.openxmlformats.org/officeDocument/2006/relationships/notesMaster" Target="/ppt/notesMasters/notesMaster1.xml" Id="R24d7687d98234e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36a1196fe44e5a" /><Relationship Type="http://schemas.openxmlformats.org/officeDocument/2006/relationships/notesMaster" Target="/ppt/notesMasters/notesMaster1.xml" Id="Rafc31bf81ec44e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54fe4acf8e4350" /><Relationship Type="http://schemas.openxmlformats.org/officeDocument/2006/relationships/notesMaster" Target="/ppt/notesMasters/notesMaster1.xml" Id="R63c89c4efcee4e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41f058c29147eb" /><Relationship Type="http://schemas.openxmlformats.org/officeDocument/2006/relationships/notesMaster" Target="/ppt/notesMasters/notesMaster1.xml" Id="R6e323d5b388741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d38739891a42ac" /><Relationship Type="http://schemas.openxmlformats.org/officeDocument/2006/relationships/notesMaster" Target="/ppt/notesMasters/notesMaster1.xml" Id="R3aaf1239495349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542b29c4374577" /><Relationship Type="http://schemas.openxmlformats.org/officeDocument/2006/relationships/notesMaster" Target="/ppt/notesMasters/notesMaster1.xml" Id="R684eb86e48164f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af509987174112" /><Relationship Type="http://schemas.openxmlformats.org/officeDocument/2006/relationships/notesMaster" Target="/ppt/notesMasters/notesMaster1.xml" Id="R780d4e5299514f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670dc7595a4c4d" /><Relationship Type="http://schemas.openxmlformats.org/officeDocument/2006/relationships/notesMaster" Target="/ppt/notesMasters/notesMaster1.xml" Id="Rccfaa3c2c38f4a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79af13251464dfb" /><Relationship Type="http://schemas.openxmlformats.org/officeDocument/2006/relationships/notesMaster" Target="/ppt/notesMasters/notesMaster1.xml" Id="Re5c4ae3820734f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fd70b1f0ab4377" /><Relationship Type="http://schemas.openxmlformats.org/officeDocument/2006/relationships/notesMaster" Target="/ppt/notesMasters/notesMaster1.xml" Id="Rd2a5a388876f44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2a54762da14fa2" /><Relationship Type="http://schemas.openxmlformats.org/officeDocument/2006/relationships/notesMaster" Target="/ppt/notesMasters/notesMaster1.xml" Id="Ra10098a3006d4a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开场：这不是一个单纯软件渲染项目，而是关于 Physical AI 数据生成如何适配 AI data center 的系统问题。用 Omdia 的宏观数据建立语境，然后进入图形学和 CUDA 算法。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这一页不要过度讨论商业预测精度。重点是宏观约束：电力、冷却、资本计划都围绕 AI 加速器而建，SDG 若要求额外图形岛会增加系统摩擦。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给图形学老师的桥接：这不是否认 raster/path tracing，而是重新解释它们在大规模 SDG 中的角色。采集越昂贵，显式状态和重建越重要。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强调双路径：如果有 RTX fleet，硬件 Vulkan 是好 acquisition oracle；如果只有 AI 加速器 fleet，就走 software CUDA seed path。共同点是后面的 seed buffer 和 Gaussian/PyTorch stack。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这里回应之前的讨论：SDG 与 gaming 不只是量变，而是生命周期不同。动态 lighting 和 moving objects 不是每次全量重建，而是触发局部 invalidation 和 refresh。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要明确：Physical AI 不是把 AI 当物理真理。低 sample path tracing + AI denoise 可以保留 realism，但需要 oracle gating。sensor modeling 与 physical simulation 是正交模块，可由 PyTorch 作为 hub 连接。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这一页是算法核心。强调 state 不是只为了渲染 3DGS，而是为 MC denoising、TAA、SR、frame interpolation、radiance cache 提供一个共享记忆。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回答核心疑问：可以尝试，但不能把 3DGS 当普通 bilateral filter。它应该是 path-space/radiance-cache reconstruction state，并且用 variance/confidence/visibility gate 控制何时刷新物理 oracle。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4DGS 和 TAA 联系起来：不是为了替换所有 neural reconstruction，而是给 neural resolver 一个几何/运动更干净的历史缓冲。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这里给出代码状态。特别指出最新的 fused gated sample-to-frame binding：输入 samples + sample_count + guides，输出 dense planes 和中间 counters/spans。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M-N-K 估计要讲清：projection/resolve/neural 是张量友好的，binning/traversal/sorting 不完全适合。RT core 的 ray-box 是专用 SIMD，BVH traversal 的难点是分歧和排序。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回应“Transformer 从哪里来”：不是框架必需组件。关键更抽象：LLM 统治性范式塑造了数据中心硬件，而 3DGS/SDG 可以把这些硬件当可编程 substrate。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强调边界：KV cache 是 sequence/time locality；GS cache 是 spatial/view/material locality。概念相通但不是一行替换。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回答动态光照问题：运动导致 shadows 和 occlusion 改变，不一定全量重建，但必须有 material/light/object tags 和 invalidation domains。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强调可证伪性：如果 shared state 不赢，就不要坚持哲学。要比较 image-space、separate state、shared state、shared+neural resolver 四组。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说明测试计划是为了避免自说自话。RTX 5090/native Vulkan 提供真实图形路径基线，CUDA path 必须在成本、吞吐、集成和任务指标上找到自己的胜点。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不要把风险藏起来。对学术听众，最可信的是承认哪里可能失败，并把每个失败模式变成指标和实验。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结束时主动邀请 critique：3DGS 作为 integration layer 是否成立、如何做严格 baseline、哪些 CUDA kernels 应优先优化、哪些物理/传感模型必须纳入。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989c73179487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f65276eef2a42f1" /><Relationship Type="http://schemas.openxmlformats.org/officeDocument/2006/relationships/slideLayout" Target="/ppt/slideLayouts/slideLayout2.xml" Id="Rdd06da9d1fc54b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06da9d1fc54b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4f4f7bae134f9a" /><Relationship Type="http://schemas.openxmlformats.org/officeDocument/2006/relationships/notesSlide" Target="/ppt/notesSlides/notesSlide1.xml" Id="R7357ddea5c114d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c320188f464643" /><Relationship Type="http://schemas.openxmlformats.org/officeDocument/2006/relationships/notesSlide" Target="/ppt/notesSlides/notesSlide2.xml" Id="R5fdff8b51c9a49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8f67e0eebe490e" /><Relationship Type="http://schemas.openxmlformats.org/officeDocument/2006/relationships/notesSlide" Target="/ppt/notesSlides/notesSlide3.xml" Id="R46b97b7f670d45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ede2523faa4bb3" /><Relationship Type="http://schemas.openxmlformats.org/officeDocument/2006/relationships/notesSlide" Target="/ppt/notesSlides/notesSlide4.xml" Id="R4654a8b59c9a43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5b3f8de163459c" /><Relationship Type="http://schemas.openxmlformats.org/officeDocument/2006/relationships/notesSlide" Target="/ppt/notesSlides/notesSlide5.xml" Id="R2c6117aa4d4449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67e7b44eff4c4c" /><Relationship Type="http://schemas.openxmlformats.org/officeDocument/2006/relationships/notesSlide" Target="/ppt/notesSlides/notesSlide6.xml" Id="R02816656915e4b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6b7d96e7514cc4" /><Relationship Type="http://schemas.openxmlformats.org/officeDocument/2006/relationships/notesSlide" Target="/ppt/notesSlides/notesSlide7.xml" Id="R8fdbb3b91da846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5eee63a192458f" /><Relationship Type="http://schemas.openxmlformats.org/officeDocument/2006/relationships/notesSlide" Target="/ppt/notesSlides/notesSlide8.xml" Id="Rb0dfb93a20da44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946f449ef645c7" /><Relationship Type="http://schemas.openxmlformats.org/officeDocument/2006/relationships/notesSlide" Target="/ppt/notesSlides/notesSlide9.xml" Id="Rdba22ae6840945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75757ceedc472d" /><Relationship Type="http://schemas.openxmlformats.org/officeDocument/2006/relationships/notesSlide" Target="/ppt/notesSlides/notesSlide10.xml" Id="Rc9e4f6e44be64c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fdbe9277a44098" /><Relationship Type="http://schemas.openxmlformats.org/officeDocument/2006/relationships/notesSlide" Target="/ppt/notesSlides/notesSlide11.xml" Id="R428a6a36a56f48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f632c716f84050" /><Relationship Type="http://schemas.openxmlformats.org/officeDocument/2006/relationships/notesSlide" Target="/ppt/notesSlides/notesSlide12.xml" Id="R7a2a2efe44c843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d882cd214c4b57" /><Relationship Type="http://schemas.openxmlformats.org/officeDocument/2006/relationships/notesSlide" Target="/ppt/notesSlides/notesSlide13.xml" Id="Raac2d6eb33a541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b8ab8930446a6" /><Relationship Type="http://schemas.openxmlformats.org/officeDocument/2006/relationships/notesSlide" Target="/ppt/notesSlides/notesSlide14.xml" Id="Red920648b8644c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bcff45f29f4ab7" /><Relationship Type="http://schemas.openxmlformats.org/officeDocument/2006/relationships/notesSlide" Target="/ppt/notesSlides/notesSlide15.xml" Id="R463fd0d495bf47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788c2b16a94cb6" /><Relationship Type="http://schemas.openxmlformats.org/officeDocument/2006/relationships/notesSlide" Target="/ppt/notesSlides/notesSlide16.xml" Id="Rf9e33e29c66545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f0d6ef8a104fd8" /><Relationship Type="http://schemas.openxmlformats.org/officeDocument/2006/relationships/notesSlide" Target="/ppt/notesSlides/notesSlide17.xml" Id="Rc5717f1ae98846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31e63f16744712" /><Relationship Type="http://schemas.openxmlformats.org/officeDocument/2006/relationships/notesSlide" Target="/ppt/notesSlides/notesSlide18.xml" Id="Rb1240524f8e84f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3323C2-F4E6-4879-87BE-EA5076CA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EEA9E-EDB3-48B4-85BF-AFD1E598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5048F-6AC6-4FEB-903C-095C43A5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67416-1782-46ED-9879-2D1578AD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571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vkGSplat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134CC-D233-48DF-A6E5-6F2633D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把图形采集、显式状态和张量重建放进 AI 数据中心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34CC4-F7CE-4473-955B-F0024E71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面向清华计算机系图形学老师的 45 分钟技术报告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120A2-32EB-4CC6-9D97-BF75A72E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572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28709-E2E6-410B-BC27-AA3FCD01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715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$6.07T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E2AF0-7F17-4150-B193-75377A1A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525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Omdia: 2026 total IT spending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1DE0E-4B26-4E40-B3EA-89FCE0E0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572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9A3C6-7DD7-4718-8502-DF4703C4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97155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72.9%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3FA2A-4390-4FF2-B4A2-269E0708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525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936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2026 IT budgets expected to grow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BEF27-A45F-4668-883A-37E633D1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76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02A00-01CB-478A-B880-DF30D3E8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2405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$1.9T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CA814-8F5E-4B6D-9663-225521F9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05050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AIDC investment scenario by 2030, 20% CAGR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D7A52-46E4-462C-86AE-20CBBD16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8A0BF-8654-46F1-A98B-8F95A3BA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不是再造游戏 GPU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6951C-FA10-416C-8270-FF3DBB1B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目标是让 SDG 成为 AI 数据中心里可调度、可监控、可复用的工作负载。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63EB4-541C-4AE5-994B-280B636D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5D5AF-1BA2-489B-AB11-56608D6D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1243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也不是替代物理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946F4E-0B9C-48CB-9808-33A76A40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3815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物理真实性来自采集 oracle；3DGS/AI 负责摊销、重建和不确定性管理。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BEC9C9-E805-43B1-8E78-220FA70B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E1AA42-3669-4428-ADE4-C4733F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243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核心问题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CF9EA6-DDEA-4361-8E76-53DF1173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一个持久 3D/4D Gaussian state 能否统一 denoise、TAA、SR、frame generation 和 radiance cache?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A7F64-8A31-465E-A483-2617253A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336AF-151B-472E-B067-2B333BF4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1243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rPr>
              <a:t>今天的请求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EBAF63-8F1D-4D32-8032-3D4525B5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3815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把宏观 AIDC 约束、CUDA kernel 路线和可证伪实验讲清楚。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3C2132-3669-4989-9810-9DF4FF6F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 paper draft; Omdia DCW/OAS 2026 used as market context.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11E18F-E03F-44E6-A262-710A475C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05599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898251-7BFB-49C6-97D4-3642BD87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FB1E3-B03D-48D9-866D-62B98DE5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DC407-2D39-461C-9197-0CE47E21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B1F7C69A-0057-4784-AA6D-DF2E41FA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6087CF98-6FCE-42CC-AFD8-D7B108FD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MACRO CONSTRAINT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C6A5C-2E61-4DB3-81FF-FF741DF6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Omdia 的 AIDC 展望把 SDG 变成了基础设施兼容性问题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03EEC-DD3B-4868-A342-689F593E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81401-07F9-49C5-8BA9-0993D9F0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$6.07T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94680-DDE7-4E86-81B3-98CE0430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2026 total IT spending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1AF76-0958-4536-804C-BE0D0136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00D87-76C9-449D-92A2-C7C303EB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240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B4BA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B4BA3"/>
                </a:solidFill>
                <a:latin typeface="PingFang SC"/>
                <a:ea typeface="PingFang SC"/>
                <a:cs typeface="PingFang SC"/>
              </a:rPr>
              <a:t>66.7%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DE41A-5F0E-4DBB-A054-94E0355D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partner-delivered IT spending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AD340-5685-4F44-856B-19A7C942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07261-E7B9-465A-8173-217DDF1A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72.9%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4FC74-6927-4DB9-BE51-264BE98C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50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organizations expect IT budget growth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9F591-1470-4B04-8F04-DB2D6059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97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404FC-5103-40AD-99A3-A7E412E2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$1.9T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8BCA6-528C-4C81-9272-43BA39DD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AIDC investment by 2030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3D447-D775-4E80-8490-5AC5C949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解释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AAD51-B28E-401D-A99D-DCE42293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如果一个组织已经在按 AI data center 的逻辑购买、供电、冷却和运维，那么 SDG 的关键不是单帧图形性能，而是能不能嵌入这套资本和运营系统。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CAF2D-F42E-4315-A6FC-68A9DB57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15C11-456C-497A-850E-27CD7A9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005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Separate graphics island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2CA85-7E29-4927-9416-A1344DC4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单独采购、驱动、调度、数据搬运、散热认证。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C59609-C96E-4FD4-9FA6-124D6A01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767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0A0C9D-54FC-4309-B033-2A1B114C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005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AI workload packaging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70BF70-2BA7-4D4D-B403-1A27C2B4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57750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782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CUDA/PyTorch job、统一 quota、统一 telemetry、靠近训练数据。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03200A-AD27-4E9D-A586-877F6809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29175"/>
            <a:ext cx="581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0B9EDD-E46B-4124-A6C7-299DE91B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148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7D69B1-5730-4893-B371-686F9F84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767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DACB52-BFF4-4AF5-9FB0-2074D4A7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05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vkGSplat bet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D2C143-1C95-4DDC-BFBB-82810CDA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57750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644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保留 Vulkan 语义，把 acquisition/reconstruction 降到张量友好的后端。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7267C7-5AEA-4C2A-8AAC-94BFC64B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29175"/>
            <a:ext cx="581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F206D3-5D02-48C2-B8EB-08599C9F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148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43D2D8-9A71-434F-B9A8-F944816D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Omdia DCW/OAS 2026; vkGSplat.tex economic case.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391ECD-194D-4CE9-B4EA-5E243491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47673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65608C-68D0-42C2-9E49-008E548C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05035-E53C-4CEB-9FF4-6DDC40FB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5377B-22DD-4AF4-92FD-8A1A4909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839ECDF1-9EDE-4F8D-899B-0F3C97FD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486DB01E-2192-4F51-BF59-692977AD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GRAPHICS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B1C61-80EA-41C9-81AC-2F00E1F5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现代图形已经从“生成像素”转向“稀疏采集 + 重建”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39A5D-1AE8-4945-A181-BBE36907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CDAD2-3771-4827-BC1C-600B3E9D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Sparse acquisition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F9FA7-4504-4D23-965E-9A44C3D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visibility, depth, motion, normals, IDs, low-spp radiance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3A6BB-429B-4994-9B1A-21D171C9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DC1F8-0BEE-4A7F-B3FA-7C325B35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240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Explicit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18F80-3D3F-4E10-B87B-79C2C5CE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8125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history, variance, confidence, Gaussian/radiance cache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76D5B-7264-4617-846D-245940AF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49EF9-54FC-4A60-88C4-81ACDD9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240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Reconstruction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30C40-EEE8-4555-B7CB-62943E5B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211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denoise, TAA, SR, frame interpolation, neural resolve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60C3F-5974-4F02-8B24-598A2842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903CA-7E50-4A16-87D7-77687A8A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68A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868A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3E884-EA70-4DE4-AD08-F1D7F12F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3FDA4-3918-43B5-AD76-A75FE75F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483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4483B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78B5FC-8BDF-4C65-BA8E-2380669D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DLSS/FSR/XeSS 类系统已经证明：采集可以稀疏，质量由时空重建恢复。vkGSplat 的不同点是把 history 从 image-space 提升为显式 3D/4D Gaussian state。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FA79F-7344-461E-974E-0636FB33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01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868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A4BE3-B97B-48AB-A714-8E6EA1D2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672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698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depth / motion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31C72-A840-4321-BC32-DEB83AE2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01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868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03884-1779-4618-8294-27E3252F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672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698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primitive IDs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84A573-6630-467D-88B4-048801D2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101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448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0D3BD3-EE17-4B6E-A116-7DAE1E96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672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698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variance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B956BC-C71C-4A2C-BE03-BF145EB8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101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448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12F40B-CD4D-481A-9477-3ACA1DC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672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698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confidence gates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6083B2-1D2F-4146-8070-22CEBA35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101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65F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B1185C-5985-4F4A-BECD-0C1C2EF7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672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698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neural resolver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B47BC3-2544-4ED7-A0DC-22212DD8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101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65F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2815AD-441D-45F3-85E3-4D0CCDD5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672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698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task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A8083B-2082-4D2F-8ED4-51D0820D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vkGSplat.tex; DLSS-class reconstruction literature cited there.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C1CD0B-FE6D-4709-8032-E10EE976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88509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560C8-56E0-4525-9DD7-F849637B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8223B-C974-4FB6-8331-E2B7BC5B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C8775-0493-4939-898A-B6017B19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E44C1DD8-44C3-4C19-8E99-806F9F22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10B57BD5-C2F5-45E2-AF96-C985F1B6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SYSTEM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516CE-7D35-4482-A790-4DCA3936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vkGSplat 保留 Vulkan 语义，但把重建中心放在 CUDA/PyTorch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BE05A-2CB5-46A6-8077-14C3C7D2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FE8B5-505B-4268-A0FA-2EFFF415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Vulkan apps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F7E90-80FE-4A10-A5F3-12FC5DF7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Isaac/Blender/custom SDG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2F105-B0AE-4104-9B1B-DDA5BBA4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F7A27-B214-4326-8A52-F79BBA1B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335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Hardware Vulkan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6BBD6-7A09-4BC0-9AB3-F300FC83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RTX/L40/graphics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F0B68-B45C-45BE-8EC2-0C2C091F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E089C-7FF3-4111-88FD-FA1DCB55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480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Software CUDA seeds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35639-506E-409E-A4BD-04FA5EB1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052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nvdiffrast/native Vulkan tensors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F56A1-0E3D-44BF-8FE5-71D2FD40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003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13975-A123-4F63-80C7-B15F51BF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2412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Seed-buffer ABI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9E74C-2FF6-4A67-8812-C8057C3D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78130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radiance, depth, normal, IDs, motion, sample 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0068D-54FA-4D8E-B90C-B6635CE0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859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8AE94-AAE3-4773-BF58-5E05C2ED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0097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3D/4D Gaussian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0DBC3-EF68-45B8-AE8F-F81C78B4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2669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geometry + radiance +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F628D7-1E97-4B50-AFE7-2604FB6E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432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674EB-8FEE-43C4-A09E-EC082243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670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rPr>
              <a:t>PyTorch hub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A0A66-545A-49F1-9E8F-3E11CF9D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242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physics/sensor/world model/training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AB7BDB-5069-4B07-AAB9-67F7E8BE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9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27BFF-D140-4755-8C43-B1D8AC90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F8AE5B-B5E7-4234-AD70-81E93399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2DDAEC-EAFC-46B6-A417-291AF041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AEEA3-CF16-476C-8678-5F500123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479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D101E8-6062-4D39-9D49-CBFD616D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813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A1DABD-09CD-43A7-90E7-FB4BD258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关键不是把 Vulkan API 扔掉，而是把 Vulkan 输出变成统一 seed contract，让硬件 graphics 和软件 CUDA 能共享后续 Gaussian/PyTorch 重建。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D39538-8533-4759-9C4F-D960E22E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vkGSplat.tex system design; current CUDA/Torch bindings.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74E43B-9358-41BB-BA87-0E6B7A5B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1658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20F528-49FF-4E11-A36E-3633EF9B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D6944-91EA-4AB7-8F39-68D250FC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1555C-6173-41F5-B411-92B1DAC0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B0B4CAAE-48B9-425A-9CC7-56BC1132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35DB6085-95C2-4BDE-A29B-C14B53D3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DB58D-A10B-4856-91F4-4AA09F57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SDG 的时间结构不同于游戏：先建世界，再反复采集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CFC32-73F2-4E91-9702-499EDEC8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5CE28-C345-4E72-A340-082C4C64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Building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B841E-6F58-4BCD-98FA-B5AE74F9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geometry, materials, BVH, high-bounce priors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BDC3C-8974-4E7F-8840-B43F5D6B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765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33527-93F0-4E5B-93BC-3F8B17B7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037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Simulation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F8502-F977-46F0-96B5-42F6A9ED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575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physics rollout, agents, contacts, dynamics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02DE0-B777-485E-B91F-FDF9ADF7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7FECA-FCC8-4EE1-A3D7-61FB0A92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003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ABC50-A604-4DB5-85A5-52DE2860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57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changed lights, moved objects, material edits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1772E-6CFD-462F-944D-6B6CD8F4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9811A-D31F-44BA-B534-07AC1A7F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037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Acquisition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8C9A4-7CCF-4CF1-8BDD-C04A9A9C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575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low-spp path/raster/sensor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A0BAC-830E-4410-935D-BAB043E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18285B-0BDF-4A6E-95D1-1B1A783E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00325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rPr>
              <a:t>Reconstruction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24E9B9-A732-4764-A324-78F94984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3DGS state, denoise, SR, labels,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F6129-8EAD-4855-9DB9-CAB32FE0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337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2514D-D0B6-4609-80C2-968FD03E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E7949-A8FA-409C-A584-762FB2C2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337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ED0361-0D5A-4DD8-A412-9411B7DA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3370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93140-4DFF-4C57-B0F5-2F3DD761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71875"/>
            <a:ext cx="8677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2E07FF-9A75-47F5-82D0-973FDB70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575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D0C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8D0C3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C94B88-7098-442B-9861-4DDB331F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游戏：每帧必须立即显示。SDG：可以花更长时间建立静态世界，然后把成本摊销到许多仿真 episode 和采集批次。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3F60A-3355-45EE-A8FF-03EFDF57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vkGSplat.tex world-building lifecycle.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580662-46AC-468F-97B4-A813D6FD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51061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8B7371-16E0-4657-B56C-6DB29065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030B9-620D-4374-A2DA-7B61B6D2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885B8-ACED-4026-90B5-E9DA7FAA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90F19ABB-94A6-4A7F-A590-33903A6A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B6BC378-968D-4065-BFA1-70443D2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PHYSICAL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659BA-BAC2-4FCD-B2D2-26B2B76B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物理真实性来自 acquisition oracle；AI 和 3DGS 负责降低采集成本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EE947-951F-452A-A3EA-683AF4C7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2B8DD-EC77-4072-93AD-CDC42254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Calibrated oracle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7E9ED-2C61-4999-A91D-C86052C0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path tracer, physics engine, sensor model, real camera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7C0E9-1D6F-4E45-B3B7-7A76FB02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02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54DC1-F117-45AD-8D6C-D8610112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240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Explicit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F6BF8-1276-46F5-A63B-64B0CCF2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sample count, variance, visibility, material, 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99684-40D5-4D2C-8FA6-3D4D37E0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B82FC-75F9-48BD-95BF-13B98713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240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Reconstruction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03293-16C1-44DD-A5F9-E0F0C6D5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812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denoise, interpolate, supersample, neural resolve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49B02-96EA-40A9-9449-43907C4E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288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8115D-3DF5-4BE1-989E-2B05A431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145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68A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868A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7B80A-7BD1-42AA-873B-CABE3BC3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74080-27E4-497D-BB7D-D12CE243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145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483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4483B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E1B3C3-073C-4B16-AF48-02D6A322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005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A6B6A-6914-4D03-A584-955A6E2C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2432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53A3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53A32"/>
                </a:solidFill>
                <a:latin typeface="PingFang SC"/>
                <a:ea typeface="PingFang SC"/>
                <a:cs typeface="PingFang SC"/>
              </a:rPr>
              <a:t>Uncertainty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15CD1-A7E4-4C69-886E-029D0D4B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815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refresh oracle when confidence is weak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CBF0D-08AD-444D-91F1-FC72A7B0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7180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42A9A2-B092-4F4B-8030-8F33171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0375"/>
            <a:ext cx="19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3CDA4-BB79-4554-B8F5-169D71E9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低采样是有效的前提：每个重建输出必须带 confidence、variance 和可回退 oracle 的机制。否则它只是漂亮的 hallucination。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CD000D-635A-4715-BEF0-8C87D519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vkGSplat.tex physical sim and sensor modeling section.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C6426D-DAAE-4840-9D61-72D0A795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662764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548618-8CC4-4765-A554-4C58E5DA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BEA49-F77B-48DE-8D97-C41BB699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D2E3F-EAD0-4EBA-8817-7A321123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A7A08E4B-DA4E-464B-8ABE-6017AAE5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1296225F-7A20-4E50-B703-534EDAC4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STATE SCHEMA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0A5B5-2374-48DB-98CA-1129A5CB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一个持久 Gaussian state 是多功能重建的共同内存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9FC22-FD94-46EC-81F4-B547E810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A8DC9-F125-4EF6-960A-68B460BA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State field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F3B53-08EA-4AFD-BF53-D07F23E8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859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67523-636A-4FE7-BAAF-EFE94620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CUDA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67344-BB81-4D00-9BB4-E755B883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Used by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1539D-7963-4446-8226-4747100F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9166D-175E-4824-A993-90CC5C7F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mu, Sigma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B619D-6E82-4419-8566-006A503B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3D mean and covariance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AD815-3CBF-4CC9-9A9B-FCC9AAE5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SoA float/half vectors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46588-2E27-420B-BF77-ED03E934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431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projection, merge/split, visibility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331CF-7E3E-4CFC-B499-3901DA5A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5DFC9-B8DC-4CE5-BCBB-55C481CB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radiance / 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F4FF1-8507-4EF2-B988-B63C841A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003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view-dependent color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7E611-4BEB-4720-B5F8-4BB7D451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03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packed feature planes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D4C48-6CA4-45D0-B852-ABEDD6C1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003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denoise, SR, radiance cache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E35AD-81FF-4592-BF1A-DBEA10CA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73506-4FEF-447E-BAD9-8C9CFE49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depth, normal, IDs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74210-D742-4564-99AA-B1D1B571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575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geometry and primitive gates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CEE483-6F99-472C-AC8E-7A411A4D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dense guide tensors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DB457C-53DB-4082-A5FB-4FB27C80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TAA, disocclusion, resolve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18049A-CC57-49AF-ACA0-B27A945F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F200D-DEE4-4568-8837-630404DD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velocity / 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2F32CC-735C-49D8-9A2C-16FCB184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147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motion in screen/world space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EBE797-410F-48C6-BFFE-A8D8A5E6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47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motion_px + 4D alpha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A817A-F434-43D3-A395-D8F8944D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frame interpolation, temporal AA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2EC030-413E-4809-B1EE-96DCE8BF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74B594-631D-4E98-8554-3E4190B0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mass, variance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A5CA79-E336-4ED4-9D8B-18F65715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719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confidence and sample support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59FDD4-D62C-44C9-ACE4-8256D76C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atomic update + finalize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9D39D2-8071-42DF-80B9-D9B7A889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oracle refresh, pruning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A31FA0-58CE-41FE-BEB1-2FA35B0B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51AB84-D460-4077-8500-060EBE41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material/light tags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1A7DAC-D70F-4280-9926-CBFDE0C3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2915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invalidation domains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425EED-9733-48AD-8894-040B17E8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291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compact integer channels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E9826C-32DB-452D-92D5-9308B143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dynamic lighting/update policy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87E4E7-295D-4F04-8F69-E07FF763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00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如果每个功能各自维护 history，系统会碎裂；如果同一 Gaussian state 能承载几何、辐射、运动和置信度，它就可能成为 DLSS-class 功能的显式状态 counterpart。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2F8F25-97B0-4E06-B3BD-0092F80B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 integrated reconstruction note; current CUDA SoA state.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EC8FB4-2C30-4CFF-8A41-995072C0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46658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915FF8-D260-4F12-901A-B964D4FE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52458-7244-4671-BC4D-97619964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7B1DC-C73B-41BE-8D00-618FA3AD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13EAC7D0-A8ED-4AEE-B96D-DDB95D98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CDA83B6E-3667-4679-98FC-0C6CE66E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MONTE CARLO DENOISING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903F3-8A38-4BF3-9B77-94069C72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3DGS 可以做 Monte Carlo denoising，但必须从图像滤波升级为路径/辐射缓存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77450-2BA6-4816-96C6-D35EF7DB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CE4F5-CF56-4BBC-A426-F55A68CC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Low-spp samples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13CFE-5F3E-49DE-9BF6-1E3B199D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radiance, path depth, normal, material, variance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67F4F-0D27-47A2-A772-0E276369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B4C14-F823-48E8-BE44-CDD5C3F9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76475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Splat into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78914-6621-4252-9F16-9752B1D0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3365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weighted update by geometry and confidence 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F39D8-FAA3-4D1F-9EDC-A1DFA5D4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9CE9F-2024-4142-A685-A02CF268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76475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Query cache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98A34-2B14-44F1-9DCE-8C193248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3365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project nearby Gaussians into pixel/path domain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62FB3-0577-4AAF-A770-4B4236EB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526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FC945-8608-4C01-8838-BF7DE508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76475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Resolve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3AA4C-FE42-41FB-9541-9DFF1BC7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3365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analytic or neural feature reconstruction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A8A42-1EDC-4148-B3BB-F1CC99AB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526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073D7-F724-4A06-AF33-7BB6214E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76475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rPr>
              <a:t>Refresh oracle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0CCFF-851D-44C9-A4B7-55606A84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33650"/>
            <a:ext cx="1495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variance, disocclusion, dynamic light event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E131E-CC3D-4BD8-B22C-AA2FA39C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5908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3D41DA-D801-4A21-B057-A8EC0D34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76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11296-1B00-4004-A2CB-B07AF09A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908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14E9E-5930-4803-85CE-B70D90C7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76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35AFB-3DA6-489A-80B1-5B5FC6FC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908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642B2-D395-49E1-BFB5-29E9DA88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76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A8F80-522D-4EA9-AFE5-EE6506D0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5908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2E0B65-1F0E-4058-80AF-5EA963BD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76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B64F56-D4BC-4CF7-B280-B65A0FE1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5927B1-DFA5-4F09-80B5-0B2AE845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Experiment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77B2A0-4C25-4692-A82C-2446A8BC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9095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Pass condition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6445F4-BA9D-4A76-9E8D-D8C9E60B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9095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Failure mode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37A387-68CB-4DB1-B353-759CAFBC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A22A39-571C-40A9-9E43-6F0161DC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 spp path-traced Cornell + moving occluder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1E3287-1C37-4508-B18B-4BCA0F84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9100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PSNR/SSIM/LPIPS beats SVGF-like image baseline at same oracle calls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B960F3-63B3-4090-83D8-0D0AC1CB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9100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ghosting or shadow lag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FBDB1B-BF5E-4CFE-8D3A-DC85AFC4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597CEB-C2D2-4315-BAD5-C74AF943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specular/indirect lighting stress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C5684F-F130-4E07-9983-F2D3BF0A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9105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variance-gated refresh improves bias without full spp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81D0E6-7BF9-4ED2-A96F-0C8E941B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9105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Gaussian cache smears view-dependent transport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46C73D-4B76-4619-8B01-D92B58D5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F8B987-CC83-4D12-9FCB-5F2B983A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shared vs separate Gaussian cache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A3F7E5-4FEC-44C9-B22A-D1FA3211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9110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shared state improves total memory and task metric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8D44E7-FE2B-4B66-921F-F3D2E73B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9110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state interference between denoise and TAA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300F5A-BBBB-4631-8C04-8D5F5E70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 MC denoising note; implementation experiment plan.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E8C05C-31F4-47DA-8528-BA7CDD35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75727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2551C6-EC4D-474C-8350-A733FF8C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D1CE4-D154-46E9-8F9B-E68D3D0F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5C8C5-3E5C-458B-A579-FE5F5A09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95865374-F592-4BBA-8881-4F405EBC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DD4DBFB1-B9F4-492E-BF83-13147F6D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TEMPORAL RECONSTRUCTION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7D810-0BEB-44A6-9CAC-F2881261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TAA、超分和插帧可以共享 4DGS history，而不是只共享 image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E7794-1FDB-4C3C-96DE-559234A9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3ABD4-23BB-4565-A363-D21AA756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Frame 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51875-A5ED-4820-92B7-6FEF3DB0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jittered samples + guides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A1BC3-FCCB-4525-BC24-403AE9B1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76375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ABC77-AAD7-4D6D-BCDF-0F1D4A7E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0020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4D Gaussian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B0E08-01B9-4903-826A-280F4CA5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57375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mu(t), Sigma(t), velocity, 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CF570-B346-47D6-A52A-0670F2D2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05125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F51EF-E64E-4D77-9863-63D95F2E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289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53A3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53A32"/>
                </a:solidFill>
                <a:latin typeface="PingFang SC"/>
                <a:ea typeface="PingFang SC"/>
                <a:cs typeface="PingFang SC"/>
              </a:rPr>
              <a:t>Disocclusion 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7A7D6-0CAF-4A10-87A6-8C06205D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86125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depth, normal, ID, motion, variance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7C3C5-8C65-42D3-8AC6-1035D3CB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7637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A63F2-7EF2-4F57-A0DA-A42A8BF0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002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2x/4x SR projection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9B69F-8CEA-4385-9176-C8C9DC35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57375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subpixel resolve from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9DEE0-ECB3-4B45-99E4-C5911D4A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0512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D75A3-C6D1-4EB2-BA65-2B4DCD82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289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rPr>
              <a:t>Frame 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BC418-10B1-4966-B2FE-27161790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86125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motion-accurate Gaussian interpolation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EA056E-AEB6-487C-A329-674EB0A4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050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E7B131-7176-4C6F-87D8-3022204B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4BD824-6704-404E-858D-B3DCB70F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0D0759-9F11-49E4-AE80-B02FB2D9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907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483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4483B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5CC010-F800-41A6-BEA9-E2968B13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5F9E0B-8EC2-4782-81B2-AEBFCAAE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194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BA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B4BA3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12EC21-561C-4244-BA10-0D50CA17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971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DLSS-like image history stores pixels. vkGSplat 的候选路线是存 Gaussian primitives + guide fields：对 disocclusion、物体 ID、运动和重建置信度更显式。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ED71BB-D168-4AEB-B28B-136B92EF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 temporal AA / supersampling note.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1F282C-3666-48DE-9786-A925CA96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46442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9F1BBB-AECC-4FB0-A422-444E4AFD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93E7E-0CAA-4048-AA03-533BAD0F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2B5B3-3EC9-4977-A49E-0EF46E04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C425F8F0-F683-408A-8214-84E23C93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0CD8B655-29E2-4CA1-A428-608EAA7F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IMPLEMENTATION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CCD4D-7198-4758-A1AF-A302E0AF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当前 CUDA 路线从 nvdiffrast/native Vulkan seed tensors 开始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46419-1EDD-44CD-B3E5-ED99FD7E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D0B92-4DC3-435C-88D6-16B7E51D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nvdiffrast raster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1A81D-6542-43EF-8514-68382508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raster/interpolate outputs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8228A-5C9F-4454-A620-BC6B2200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C2CA8-D7E6-436B-B51F-4FB775E0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Native Vulkan seed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D0273-95BE-41CB-8EC7-9CB81FF7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Wicked/RT seed buffer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0460B-1B88-49A3-BCF7-678F330F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0A942-2CC7-4885-94A5-F6068114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860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SoA sample tensors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81A6A-F30A-448C-8C32-517CA00D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432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position, normal, radiance, pixel, motion, ids, 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6EF30-742A-4B7E-9FC1-A27A3809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FE48C-1FCD-4D5A-B7C4-12C71665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383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Tile spans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55D9E-554A-4AF4-9DCE-55A10B43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bin -&gt; scan offsets -&gt; compact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23046-9FF6-48A3-B542-A4974E8D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269D0-989D-4740-AE63-B4239C39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rPr>
              <a:t>Gaussian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A4761-A315-485F-BC6E-18F0F1E4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accumulate -&gt; finalize -&gt; project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065105-B9F5-45B1-820A-559972EE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622C9-3EBD-4E79-A39E-53345708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Resolved planes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DE52F8-747A-4B96-B6C9-E287CCA4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4320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radiance, depth/confidence, ids, counters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CE226-4812-453B-A017-A274D039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33600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22A50A-BBB4-44B1-AC18-BE42EEA1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14625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53F66E-BA84-4B3E-9D90-60F32C89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9C3656-8CBE-42B2-B4BC-C66A9747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19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8B01B-C4CC-4241-A377-749CCD55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9618B5-AFDF-4F52-AF90-03B9C955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19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03144E-255D-42E3-AFA4-C6348EB4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已实现的 PyTorch binding 方向：device-side sample count、tile offsets、compaction、weighted/gated resolve，避免把关键计数和中间结果拉回 CPU。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24DDAF-3BAB-4119-A879-51AA549E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src/torch/gaussian_reconstruction_torch.cpp; src/cuda/gaussian_reconstruction.cu.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FC223B-F735-44D3-BDBB-B45E3E3F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807848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7E6F81-0F4A-472C-B39C-5B2B6622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0E861-D6FB-428F-9D0E-ED4748E8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22D57-10EE-4073-881C-D8225932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977CF64D-BA38-4DCE-83C3-D3AD1C09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09F93C0F-97C6-4EF7-AE06-BF36804D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CUDA TENSORIZATION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EBDE0-0D28-4C8E-890A-12A5113C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 tensorization 的边界应按 M-N-K 和数据重用来判断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547EF-B098-4FFD-A820-88265010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062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3D6CD-126D-42C6-B62D-3D7F1996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Kernel family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5B24C-1A69-452A-9B76-9C7F173D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716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C6AF1-01EC-4E15-9FF1-4CB7D0BF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7716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790E8-97B4-4189-9D1B-B9527F56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77165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FFC70-C1A9-49EE-834B-262BA603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716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Tensorizable?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9CA64-6A89-4794-A00B-AF97C45A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7716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E42ED-0BF5-4244-A3B6-BFC2B165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062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DFF94-42C4-4414-B0C6-58B01121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projection / feature resolve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D99C1-DC8E-4C31-8D10-6ACBD817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1717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pixels or Gaussians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F7E69-01AC-4B51-922B-E7FC5FC8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717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feature channels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4C907-D1EA-4784-89C8-B05C9F67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7170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basis / samples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E6A07-70F8-4A18-980F-96A0B6D0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high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707E9-E68F-48DA-80EC-5AB36D44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717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dense weighted sums map to MMA-like tiles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D8D4E3-EDAA-4510-909A-05EB5473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1062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9DD91-B04F-460F-ADB0-743B2950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Gaussian state update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ECBA06-1421-4723-AB26-D35E67E6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5717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samples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E16EB-D587-4B1C-8230-AC09517C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71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state features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50D7F6-C842-4831-8BBC-9C261D35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7175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nearby bins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144AE-FD67-4C42-9426-55B1258C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717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medium-high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2FDBE6-6914-4E8C-987C-5BA5D55F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7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scatter/atomics limit clean GEMM shape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BAD4B-C920-4561-960E-202A2337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062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4DF9C-84F1-4C9E-834A-9FB39F1A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neural resolver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395DDC-57D1-485B-BC84-6F38DC92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tokens/pixels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28DD9A-C96C-4E22-B61A-1437F77B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718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hidden width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563487-047F-4AE5-9676-C946D855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7180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features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883B5A-6076-4682-A16D-70743E58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7180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high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8B5381-016E-44FD-90EA-D6A75548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718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standard convolution/attention/MLP 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9AB577-4905-4B6F-82D6-6AF56E08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1062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2BF28B-7EE4-4D62-9A71-7BDE427F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tile binning / compaction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D83593-3D4E-4E8C-AC35-9476E962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718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samples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DCA974-338B-4802-AA56-D29569FA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tiles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3BF6EE-602C-4915-922B-28CD627F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7185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DB12D6-6223-4547-8640-B37EC7E3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04D35B-87B7-4EFE-90D5-D18ADD22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3718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prefix sums, sorting, atomics dominate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6DBBD7-70A6-466E-8767-374202AA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062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96C216-4A46-4C43-A177-244033F6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BVH traversal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74087B-0D2A-415F-BB09-34E72E02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719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rays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ED0026-C34A-4B99-A7FB-89D1A3AA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7719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nodes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5A6C80-3D12-46FD-A936-547FE19D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7190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steps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6ADD3C-FEC9-4816-89B8-D20B4CB9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7190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low-medium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D3CA10-6631-4E66-A726-C101D399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719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ray-box SIMD yes; traversal divergence remains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209AF4-FD96-48EF-91C0-212999BC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062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FA7F8D-64CF-44F3-BA2C-367717D7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radiance cache query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738B6F-EE05-4363-A1E1-C6A7CF49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719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queries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552EE4-D691-430D-920F-F466C825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1719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features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24AD89-2B8F-4ADB-8657-182FB04B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17195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neighbors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17DD7D-D6F9-443A-89F0-842D2582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71950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medium-high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A529E3-4BE3-4B9E-9B54-F5CCBE0F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719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463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like attention over local keys/values if locality is structured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B24C7C-7D4B-4581-8AB6-4C50541B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判断标准：不是“能不能塞进 Tensor Core”，而是是否有稳定的 MxN output tile、可复用 K 维、低分歧控制流和可控 scatter。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F1097F-7111-40A3-B265-E8E277B3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 tensorization discussion and CUDA kernel plan.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3BA19E-E3E2-4756-8A01-D273E265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769601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7CC28C-6C30-4C2B-981C-F6ED1B1A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D6887-F217-4B57-AD33-B5A8EEFF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8CC7C-8107-401E-B6C9-D6C148C5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6E612243-AB37-496B-AC48-027067C6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2D0C4409-233C-4A77-90CD-32C1EE89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HARDWARE SUBSTRATE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EBE5A-BBCF-4DD5-889E-2BF60EAE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Transformer 不是主角；Transformer 时代的硬件才是可复用底座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5AAE6-62C4-4C70-9EF6-43D28BAC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E6743-4B89-4BE4-9544-8081A43A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LLM prefill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4A9C5-79D6-443F-83E7-F7A7C86E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large dense MxK x KxN matmul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1BE61-03EB-409A-9234-82A1B73B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F7988-A91B-410F-A7CE-871B4C76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575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rPr>
              <a:t>LLM decoding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30A00-3106-4D9D-A37B-B9E9BAC0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memory-bound KV cache lookup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22BF5-27E3-4433-AE35-2EFCB544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5BD3F-85FC-44FA-9CFE-A53A5F1E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24075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vkGSplat projection/resolve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42790-8D4D-4B16-B242-2FC359F5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812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Gaussian features x basis / pixels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84003-CA23-4AD1-9DC2-EF1C5293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D8387-80BE-4F68-B566-8F964129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57575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vkGSplat radiance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6C082-EE5E-40FA-8FC4-99566C27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14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query local Gaussian keys/values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B1CD3-5EE9-46BF-87A8-280071B6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2667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06E8E-BBE1-4FEE-88E2-BECB09D0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52725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Shared hardware 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B39AB-F200-4A3E-91FB-1E3F91E8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9900"/>
            <a:ext cx="2400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Tensor cores, HBM, SRAM tiling, cache scheduling, quantization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20C60-14A7-47CA-8A21-588CE86D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9825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06383-CEB8-4C63-803E-7E600744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955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68A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868A8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063B18-1022-457C-A9DF-D4EBF6D4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43325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06C82-5DF1-4CE7-BD08-AF136286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290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BA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B4BA3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C5709F-F20B-415F-A8B0-505C0E9D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982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D2D885-7AFD-42DE-8BCD-C9D3AADE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4FAAA6-4596-499F-8D84-387A5279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如果需要 Transformer，它更像 optional neural resolver；但即使不用 Transformer，vkGSplat 仍可受益于 LLM 优化出的矩阵、缓存、量化和调度硬件。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707CF4-8997-471B-AF5D-C15D73C1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vkGSplat.tex appendix on Transformer-era architecture.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E03810-C739-4001-BE5F-B18A57D3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126792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A39471-495D-44D0-A1E9-E05A17E5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0CE87-D705-4BF8-8470-6524C13A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B3AB8-4D9E-423B-8A9F-8A7C635D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86CB00CA-0DB4-4EBA-9331-730381AB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F5C0FAD3-C2F8-4CFE-A01D-0C97FE20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CACHE ANALOGY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A2B10-CE31-4C93-A6C3-B594B611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KV-cache 优化不能直接复制，但 GS radiance cache 有相同的系统形状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E86AC-CDB9-4462-87FE-653EB076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B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34D3B-5D10-4BB9-9D1A-D3EDE44B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Design axis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8CF13-9A92-4FC2-88DD-3E898D0D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478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KV cache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1BEF0-BDA8-4E08-A62A-0B79BD60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478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GS radiance cache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2908F-13AB-45CA-A1AF-6620B099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478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Reusable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90DC6-45AD-4209-A563-50FCA33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0430D-5D98-426A-88A7-D0116A12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372DF-A7E9-4D09-900D-37DA8F69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050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token position / 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C2B40-79D4-4C6C-95AB-C3FE32F6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Gaussian ID, tile, view, material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67629-BEDA-4FCE-8342-9F2BD585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paged metadata and locality-aware lookup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822F9-781D-4E2E-918E-CD51F706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67F34-1298-4CB7-85DD-050300E6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8F30F-27EA-44F6-BB35-BEE16F0E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622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attention vectors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6E8CB-2BF4-4280-B6C7-B4848AED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622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radiance/features/variance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8334F-D491-416B-88C6-CDF7E21B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622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low precision value storage with FP32 accumulators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1C13A-B858-47D5-B1F4-517ABAFA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2F576-2816-4E94-9769-1B6CD680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Query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A2E171-8497-4C8D-A071-753BB969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194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current token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C65594-79C1-4083-BAF7-EFC5BA95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194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pixel/ray/sample query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8FC60-030D-4F91-A1F1-06DA4C3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194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batched gather + fused weighting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A74BE3-AC57-47C1-BC38-1E906505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1EDB34-395C-4683-BD11-4C8BF0FC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Eviction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3D1CF2-ED0B-49B1-B016-559D9086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context 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259756-ADE6-4BCA-BF50-5E93A787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766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visibility/confidence/invalidation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A4295B-0FEB-4EC5-A2BB-2DE006A5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766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cache residency based on utility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17BC70-9A72-4703-84B5-49B8F56D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7DD516-6891-43D5-B749-5C700D66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Bottleneck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C7DBA8-F62C-4B4D-BC17-E56C5EBC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338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HBM bandwidth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A64A6E-5C42-497A-B80C-BAC73C8A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3385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neighbor search + scatter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40E491-0656-491E-8E23-01D198B1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338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layout, prefetch, compression, scheduling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A652C8-E9B6-4CA4-BAB0-49CBC4B3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硬件启发：paged cache、low-precision values、fused gather-weight-reduce、HBM/SRAM locality 都值得复用；但 GS cache 还需要空间索引、可见性和动态光照 invalidation。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4BF392-FDC0-4909-BFB5-A4054DAB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 paper appendix on KV cache and Gaussian radiance cache.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7BBE8E-C6E7-4A32-A7DE-0335FC7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215535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1FBF79-A459-48D9-B9DE-F48B79D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898E5-8578-48F2-A64E-228FAFDF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B32FF-645F-467E-B5C3-2DDA4DDE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BAD4B620-BE8C-48A1-9A9A-10D4233D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45FDD1CC-288A-4662-AA7E-FF4E55C9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DYNAMIC SCENES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4CFFC-5752-4AF3-AA61-19DCFD08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动态光照和运动物体需要局部 invalidation，而不是每次重建全世界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10D28-FDFE-4475-8580-975A304F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91561-5893-4764-960A-2DC0CC09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Change 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3A3DD-EABE-490A-99F8-2AA0C75F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State affected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F2F1B-3734-49FE-80CB-AB71F291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Refresh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CDB2C-58A3-4ABC-BB77-1F91DB9D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9070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Risk if ignored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B83FE-18A8-4044-93D1-B33A2A7C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665BA-2E29-4205-A9E1-D8A53094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moving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2A86B-157A-4C07-AB52-D8E7DC96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098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visibility, depth, IDs, shadows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35C66-4622-4BF1-BFF1-7B19A5F7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update object Gaussians and shadow regions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EE4C8-1058-4657-9D18-7CF50B2F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ghosting, wrong occlusion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482A8-F5F8-408B-9D1B-293CFF64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69DA8-B2CF-4B87-AB4C-94D9928D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dynamic light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64B41-579A-414E-B244-6431A30F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radiance, indirect cache, shadow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9C5191-1F5F-4079-BDEC-BEBB5F5A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2890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invalidate light-tagged radiance volumes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9C3D74-4898-4D4B-AB88-5AAC2C98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stale highlights/shadows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48FA7-D1E7-4EBB-A993-232F3AF9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2A9B8-C2D2-4033-A802-7DD5A616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material edit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38799-FCFB-47D1-AB6B-5F7EFADC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BRDF features, specular cache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BAA91B-51C8-4108-814D-74DF5F9C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refresh affected material IDs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46CD02-FBDD-4AED-BA68-AFD0252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4800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biased appearance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2DA00-1373-4153-8D89-02E28D7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094CB3-F09B-47BE-9ADA-EE9E0833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camera-only motion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77F28F-5C6E-42FB-9084-9FF204AE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screen projection/history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6F2C55-588A-4914-8A7C-C7AAE6C4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6710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reuse 3D/4D state with TAA gates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3CDA2D-5541-407C-BB1B-4ED65228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6710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image-space smear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86B77-823F-4B27-B0CF-E3BAB73B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BEF13A-73E1-4401-A5C8-73B6A485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rare/safety event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20A001-F158-4F35-AE28-13E3EA15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task confidence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E1C0DF-4794-4E0B-9B2C-C776D26E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8620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force oracle reacquisition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34CEC0-3782-4115-A543-890BC66B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sim-to-real failure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7843FC-4781-45E8-B9AA-17DE1F69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世界 building 阶段建立 priors；simulation/update 阶段记录哪些 domain 失效；acquisition 阶段只重采不确定或被事件影响的区域。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DE4EE8-1CB2-48A5-A933-7445B718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vkGSplat.tex dynamic lighting/world lifecycle discussion.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03215C-1A22-4C22-80A8-417A38AB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857668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6F4C07-38B3-4F19-987B-D3E7B64C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04A95-BDF3-4E32-9EFA-52C6E3ED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7626E-6161-467B-B13C-C77E88F4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D91F8216-A582-450D-8373-2CF932B9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B53146EB-7E9D-44D8-B23B-345BEF30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PASS/FAIL EXPERIMENTS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C24C2-E160-423C-9372-22EB6A1A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核心实验不是证明 3DGS 好看，而是证明一个 state 能整合多种功能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93C12-DF74-40EE-ABEF-B3E6EE0E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1114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A1808-0FB1-4B4C-95AA-879E9FEC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Variant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F1901-F695-4E45-9AF0-D7B421EE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1450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Denoise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4A86C-57DB-489C-94BF-5E19527A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145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TAA/SR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4B535-98F1-430D-9625-AF9634DE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Frame interpolation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395C5-AD78-4178-8A04-51FE759D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145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Expected verdict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0C925-16DC-45FA-9FA6-10D702F6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114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1B3DC-16FC-48C7-8EFF-842597BF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 image-space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BC6F7-D7D7-4025-BF91-6E610B80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3360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SVGF/neural image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D350B-E654-4630-A17B-ADB0527D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336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image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780F4-175C-478D-AE26-9AD328B4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336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optical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CC083-B8BF-4951-B79D-961FF39C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336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baseline quality, low state coupling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B92BF-8011-4BED-8D17-E49C2E64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114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3D53F-7AFB-4625-9EC7-1EC0A931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 separate GS states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6CB05-A69C-41AA-8E3E-969EBD82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radiance 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50CDCE-CAF9-4AD3-A23B-86CEDC21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527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temporal 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F3078F-24B4-42D2-B618-2787E7CA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527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motion 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D49D2-D18B-4E3A-A590-36FC0DFD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527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better modules, higher memory/complexity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773924-C110-4855-940F-C7E851D2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1114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C1DAF1-4C79-428F-BF13-B74D9DBB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 shared GS 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90852C-387D-4137-88C2-A662A0B8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7180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same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34F4F7-8E2C-4350-8459-CC5F994B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718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same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0E7B2-4AC1-4E78-AAA5-4DD97C2C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718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same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80DC0A-C6E8-4B29-9AE9-04FD1292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718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wins only if interference is controlled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0E3E25-D79E-4F06-8B26-06F08FB4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114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10C5CE-5D56-4C98-99CE-38F4DC77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 shared + neural resolver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F8926-527D-4EE7-9109-1FE40853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9090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state features to net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092F65-841F-42BC-AF54-A57247CC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909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state-aware SR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A5EC6A-1588-4684-A7C1-2208B1A0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909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state-aware frame gen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591969-5BE5-41FC-8E7A-A9AABC8F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909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target architecture if metrics pass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2BF77E-00D7-47F4-A96B-273BAEB7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09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Pass criteria: lower oracle calls, lower memory, fewer temporal artifacts, and equal or better downstream Physical AI task score. Fail criteria: state interference, stale lighting, or tensor under-utilization.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E95286-B263-4C4A-8C47-E8734BEC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research/vkGSplat_integrated_3dgs_reconstruction.tex.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0370B8-4F1A-481E-9D80-75E46487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9415693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C28D56-1DF4-4CF0-B311-9AA6ECF8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75446-40DB-42C5-996B-DFA47B6C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93ADB-CBCD-4A94-AE9C-BBDBD16C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7D708FC6-EF91-4790-A5CD-3FDBBCA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48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1C0B6991-2932-49EA-B703-7AFFACF1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VALIDATION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3BCF0-EA98-45F6-8D61-0A8A4D0F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RTX 5090 / native Vulkan 测试计划给 compute-first 路线一个硬基线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819FE-78C6-4775-9121-EC10299B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7DDD1-F7ED-44CA-8AB6-3E74DDF2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0030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483B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14483B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CA954-6FBD-4F57-9059-100A7855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E9752-F37C-4732-B6D0-0DE18A1D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Native Vulkan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AEBCE-F46A-4B67-A463-AC6DAD9A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verify Wicked/RT seed buffers and labels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6CCB8-9C74-47B4-B4B3-EB8A12A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62225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D4520-B185-420F-A0B7-D8F5386B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479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D6526-850C-4BFE-834F-93CB77A3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B4C87-7BF5-4535-B5AB-31467958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0030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5F2A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B65F2A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98A8D-4EAF-4462-8222-6397E9BF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7C0C4-5FBC-470C-93F7-F4C00F3C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9087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CUDA ingest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A0575-6EE7-4C5B-8434-B8A56DF0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zero-copy or bounded-copy tensor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670A8-C100-4EED-97DC-BE462D15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62225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2E3B3-89BE-4799-A6EF-26B76B5D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479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347FE-CB29-4AC1-B89E-F686F263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DD5C5-8C4C-49AA-BBE1-FB282DDD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0030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483B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14483B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C8523F-620F-4472-9760-8344A046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670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1083DC-700D-470D-A4FE-3631FB0B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9087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Tile resolve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B10F0-779C-4C59-A48A-22E2D25F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480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weighted/gated resolve counters and timing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D8D5B-C256-47BB-A474-285570B0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62225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DB3EFF-E2CB-4D06-BF72-52461FE4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479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734AB-D8D8-470C-8035-6BA63C3D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53F70C-5980-47DE-B4B2-560793DB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0030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5F2A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B65F2A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6D9DDA-DDA7-4928-85A7-55B70F98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172502-E1BF-444B-984D-7B813AC0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9087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Gaussian 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1D6273-E1D5-472D-80DD-FCE984F7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480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accumulate/finalize/project + temporal gates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D0E639-45EA-4E12-8EFE-502FF638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62225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A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CD0591-34CC-4346-8029-C36C4938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479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C386D8-F0B6-4909-B8C6-04B811CD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609394-DC81-47FE-B3D6-5E9FFF85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0030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483B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14483B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4E4B70-8327-422F-A062-921670F0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670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BB51EA-7E29-4336-BDDB-AAC4DE06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9087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Ablation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55D654-380F-4571-B789-E1427048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480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compare RTX hardware, image-space, shared 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591457-FD1E-4EBF-8B39-9E60BF2D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测量：ms/frame、J/image、samples/s、tile occupancy、atomic contention、HBM bandwidth、image metrics、task-level sim-to-real metrics。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F05BDC-D3BE-47A1-8898-D0DC0B53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docs/rtx5090_workstation_test_plan.md; README test plan.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A7905F-9F9F-41EB-82BF-1149D510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6674019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770ABF-E99B-45B8-B739-5AE60AEA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898BC-7270-4A44-B420-B97B8A8D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DDFE0-10F5-41F6-AA3D-DF7EC125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D9D1498F-5575-44B7-A4CC-A68A36E9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8D0271F9-0D4D-4C7F-979F-75E76586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RISK REGISTER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F34E0-21AF-4344-BCD2-BD22889B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最危险的风险都可以转化为实验指标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54E20-7587-4BDC-BD7E-E8B878B7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C2F95-DEB5-4B14-9148-40B08053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3227F-03CD-4717-9907-349A9512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9070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Symptom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FBDCD-7433-4776-BB29-22C2312E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907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F917D-9CC3-4890-B29A-35B81891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Mitigation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A27A0-0DA5-48EA-A817-02316B9F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6A86E-5057-40BE-927C-27AA3861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physical bias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078E8-1D53-4A25-81B3-20F6A0FF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plausible but wrong sensor/radiance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0FDC8-82E0-466F-A8F2-05B515D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task failure, calibration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50F9F-4794-46C7-9D79-36C508E0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98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oracle refresh + sensor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C91A2-C5DE-4CD3-880E-9A8E8D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D0C6E-4DA1-4AF0-928E-60378613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dynamic lighting lag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A6A8D-4FAA-49D3-931F-969B17A2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2890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stale shadows/highlights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CE916-102E-4D5C-B575-F1C0AE88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289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shadow-change 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A403D-7194-4AD7-9FFF-841F29CE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289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light-tag invalidation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E8177-FE1C-4442-9A05-344D88EA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FA838-E51C-42B0-A284-F9A62A70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state interference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CB678-51A7-4078-A077-3E775159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4800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denoise helps but TAA worsens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3CB044-71A9-4897-A92F-172D12DE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ablation delta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8290E-877E-4538-BBD2-7A5FF3B5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480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separate subspaces or gates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2C7B82-5F1B-4821-AC23-CE54EB50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AB6F2-7D1C-4659-9D4C-3721E9FB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tensor under-utilization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BC463-C14B-43AE-A1B8-CF2B7BA3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6710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low Tensor Core occupancy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97A7F-0330-4A7F-9672-44941086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671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MMA utilization, roofline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87CF7E-B21F-48E8-AC94-117C767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671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batching, feature packing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A1C90C-C869-4C9B-A6AC-90042175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73392C-C0E1-457D-9E4F-20EC3EEE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BVH divergence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71F132-0597-41CE-9FB4-C0CDD72D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8620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SIMT lanes idle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DED5FB-73BA-4DC6-80A1-A3363E1E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ray sorting, traversal stats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C77732-7DB1-4717-BCA8-BF460608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packetization, spatial bins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16AFEE-B99C-45E0-A1DF-D1F5DDD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028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3"/>
          </a:solidFill>
          <a:ln xmlns:a="http://schemas.openxmlformats.org/drawingml/2006/main" w="7620">
            <a:solidFill>
              <a:srgbClr val="D8D0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90C3AF-3D3E-412D-89A7-FD9E6A92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data-center mismatch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5F47A1-25F1-4839-B9E2-8534B7FC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0530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good kernel, bad deployment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BF7A3A-1AE4-4462-9604-E25D9C81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053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cost/J/image plus utilization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A460F6-B5F8-4931-8DCD-74DB955E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053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AIDC-native packaging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91DCEA-6F50-4A8A-B661-6D291983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 paper and CUDA implementation risk list.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364F8B-6B7D-4829-921A-24304C3C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9395618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802032-0282-494E-9533-0F45C1E6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8C2F1-1724-4573-BBA6-25FC0EC6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D3061-9526-457F-BD34-C4056284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1A55DCA9-DBF3-4D50-8EA5-69B8B550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9648A088-7CFC-4BC3-81DD-F6C464B8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COLLABORATION 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318A8-99DF-42CD-ADDD-BF699321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希望和图形学老师一起把这个问题变成可发表、可复现的系统研究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8350A-AD45-4189-830A-5301DCC0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8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1A25D-6C4C-4622-A7FC-80D2F723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483B"/>
                </a:solidFill>
                <a:latin typeface="PingFang SC"/>
                <a:ea typeface="PingFang SC"/>
                <a:cs typeface="PingFang SC"/>
              </a:rPr>
              <a:t>数学与算法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7DF57-A97F-4F9E-96F8-3D7413E4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114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Gaussian-state update, split/merge/prune, variance gates, 4D motion interpolation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C9605-438F-46F6-82AC-A54C4F7B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9B884-12CB-48F5-87D0-445205F5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288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渲染与物理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FEBC9-4D3B-4972-B66E-19FB2A0D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86000"/>
            <a:ext cx="2114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low-spp path tracing, sensor modeling, dynamic lighting invalidation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2AA47-CE84-4D6F-BA12-42EE1E12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3D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F42E1-28B7-46B1-9BB8-0A01F4BB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288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F2A"/>
                </a:solidFill>
                <a:latin typeface="PingFang SC"/>
                <a:ea typeface="PingFang SC"/>
                <a:cs typeface="PingFang SC"/>
              </a:rPr>
              <a:t>CUDA 与硬件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55AF3-61C8-4C7E-BD7A-8E8C7342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2114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tensorized projection/resolve, cache layout, ray traversal scheduling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3CA43-CE5F-4DBC-B3E7-41B55B17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050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8C97F-92F8-48F4-B9BE-70ACAA08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2882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4BA3"/>
                </a:solidFill>
                <a:latin typeface="PingFang SC"/>
                <a:ea typeface="PingFang SC"/>
                <a:cs typeface="PingFang SC"/>
              </a:rPr>
              <a:t>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94AD1-5E7C-4570-8713-9DF838D9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86000"/>
            <a:ext cx="154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RTX/native Vulkan baselines and task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28796-129D-4BF0-B766-E0427AAB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一句话：不要让 SDG 在 AI 数据中心旁边另起一座图形孤岛；让图形采集、显式状态和张量重建共用同一套可扩展基础设施。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C29C7-846A-45D2-A2FC-9BF08037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Q&amp;A: 哪些 graphics hardware 值得保留？哪些应下放到 tensor/HBM/cache 优化？3DGS 是否真的能统一这些功能？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37762-7695-4D45-824F-423731DE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F5A50"/>
                </a:solidFill>
                <a:latin typeface="PingFang SC"/>
                <a:ea typeface="PingFang SC"/>
                <a:cs typeface="PingFang SC"/>
              </a:rPr>
              <a:t>Source: vkGSplat project direction; proposed collaboration agenda.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8FD25-3D24-4529-9B76-8B5223A0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36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F5A50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88505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2026-05-07T09:24:53.2330000Z</dcterms:created>
  <dcterms:modified xsi:type="dcterms:W3CDTF">2026-05-07T09:24:53.2330000Z</dcterms:modified>
</coreProperties>
</file>